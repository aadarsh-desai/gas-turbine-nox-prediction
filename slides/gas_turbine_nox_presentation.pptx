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Introduce yourself and identify Professor Burak Civitcioglu and the Practical Machine Learning subject. Explain: this project estimates the concentration of NOx emitted by a gas turbine using nine measurements collected during the same hour. NOx is a pollutant generated during combustion. The dataset comes from UCI and includes 36,733 observations spanning 2011–2015. This is regression, not future forecasting. Transition to the chronological train/validation/test split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Describe origin and scale. Explain the nine sensor abbreviations are temperatures, pressures, humidity and energy yield; CO is excluded. The chronological split avoids randomly mixing adjacent hours from different years. Training computes scaling means and standard deviations; validation selects hyperparameters; test years remain held out for final reporting. Cite UCI dataset 551.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Explain Linear as weighted sums plus biases, ReLU as setting negative activations to zero, and the scalar output as an unconstrained regression estimate. Describe one batch: zero_grad, forward, MSE, backward, optimizer.step. No pretrained network is used. Parameter total: 9×32+32=320; 32×16+16=528; 16×1+1=17; total 865.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Two learning rates are tried from the same seed. Validation set is 2013 only. The line chart plots MSE on a STANDARDIZED target; the 7.507 RMSE is on real mg/m³ units, so numbers are on different scales. The minimum validation loss is at epoch 32; training ran to epoch 52 before early stopping. The best epoch weights, not the last epoch, are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Clarify that test set is 2014–2015 and was not used for selecting learning rate or epoch. RMSE is typical error on a scale that penalizes large errors; lower is better. MAE is average absolute error. R² near zero means limited variance explained. Explicitly acknowledge that linear regression is superior here. Do not claim the neural network is the best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Explain x-axis actual and y-axis predicted concentration. Dots on diagonal are perfect; distance from diagonal is error. Graph uses a display sample, not all 14,542 test rows; metrics use all rows. Performance worsens in 2015. Temporal drift is possible but not proven. One turbine and no explicit timestamps limit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REHEARSAL ONLY</a:t>
            </a:r>
          </a:p>
          <a:p>
            <a:r>
              <a:t>Open Streamlit already running on the laptop. Select a preset, alter a sensor value, and show estimated NOx. Demonstrate CSV tab if time. Stress model.pt loads with eval/inference_mode and does not retrain at app startup. Give the limitations and close with reproducibility and integrity of evaluation. Be ready to explain any code line; never use speaker notes during defence if disallowed.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144000" cy="32004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400" b="1">
                <a:solidFill>
                  <a:srgbClr val="176B87"/>
                </a:solidFill>
                <a:latin typeface="Aptos"/>
              </a:rPr>
              <a:t>AIVANCITY  /  PRACTICAL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27080" cy="114300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3800" b="1">
                <a:solidFill>
                  <a:srgbClr val="1C3043"/>
                </a:solidFill>
                <a:latin typeface="Aptos"/>
              </a:rPr>
              <a:t>Gas Turbine NOx
Emission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68296"/>
            <a:ext cx="10515600" cy="54864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800" b="0">
                <a:solidFill>
                  <a:srgbClr val="637380"/>
                </a:solidFill>
                <a:latin typeface="Aptos"/>
              </a:rPr>
              <a:t>A PyTorch neural network for estimating same-hour nitrogen oxide concentrations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255264"/>
            <a:ext cx="10863072" cy="226771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547872"/>
            <a:ext cx="5074920" cy="246888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100" b="1">
                <a:solidFill>
                  <a:srgbClr val="176B87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886200"/>
            <a:ext cx="5120640" cy="448056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2200" b="1">
                <a:solidFill>
                  <a:srgbClr val="1C3043"/>
                </a:solidFill>
                <a:latin typeface="Aptos"/>
              </a:rPr>
              <a:t>Aadarshkumar Desai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47872"/>
            <a:ext cx="4572000" cy="246888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100" b="1">
                <a:solidFill>
                  <a:srgbClr val="176B87"/>
                </a:solidFill>
                <a:latin typeface="Aptos"/>
              </a:rPr>
              <a:t>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4626864" cy="448056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2100" b="1">
                <a:solidFill>
                  <a:srgbClr val="1C3043"/>
                </a:solidFill>
                <a:latin typeface="Aptos"/>
              </a:rPr>
              <a:t>Burak Civitcioglu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3575304"/>
            <a:ext cx="16459" cy="1417320"/>
          </a:xfrm>
          <a:prstGeom prst="rect">
            <a:avLst/>
          </a:prstGeom>
          <a:solidFill>
            <a:srgbClr val="C1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645152"/>
            <a:ext cx="9875520" cy="557784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600" b="0">
                <a:solidFill>
                  <a:srgbClr val="1C3043"/>
                </a:solidFill>
                <a:latin typeface="Aptos"/>
              </a:rPr>
              <a:t>MSc in Data Engineering and Cloud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33872"/>
            <a:ext cx="10652760" cy="32004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300" b="0">
                <a:solidFill>
                  <a:srgbClr val="637380"/>
                </a:solidFill>
                <a:latin typeface="Aptos"/>
              </a:rPr>
              <a:t>36,733 hourly observations     •     9 sensor inputs     •     PyTorch + 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6455664"/>
            <a:ext cx="10927080" cy="13716"/>
          </a:xfrm>
          <a:prstGeom prst="rect">
            <a:avLst/>
          </a:prstGeom>
          <a:solidFill>
            <a:srgbClr val="CD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332720" cy="22860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000" b="0">
                <a:solidFill>
                  <a:srgbClr val="637380"/>
                </a:solidFill>
                <a:latin typeface="Aptos"/>
              </a:rPr>
              <a:t>UCI Gas Turbine CO and NOx Emission Data Set  |  2011–2015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548640" cy="228600"/>
          </a:xfrm>
          <a:prstGeom prst="rect">
            <a:avLst/>
          </a:prstGeom>
          <a:noFill/>
        </p:spPr>
        <p:txBody>
          <a:bodyPr wrap="square" lIns="9144" tIns="13716" rIns="9144" bIns="0">
            <a:spAutoFit/>
          </a:bodyPr>
          <a:lstStyle/>
          <a:p>
            <a:pPr algn="l"/>
            <a:r>
              <a:rPr sz="1000" b="0">
                <a:solidFill>
                  <a:srgbClr val="637380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Real data, split by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07181"/>
                </a:solidFill>
              </a:defRPr>
            </a:pPr>
            <a:r>
              <a:t>One gas turbine in Turkey • UCI repository • measurements from 2011–2015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2377440"/>
            <a:ext cx="3419856" cy="2011680"/>
          </a:xfrm>
          <a:prstGeom prst="roundRect">
            <a:avLst/>
          </a:prstGeom>
          <a:solidFill>
            <a:srgbClr val="E5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615184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7A91"/>
                </a:solidFill>
              </a:defRPr>
            </a:pPr>
            <a: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3072384"/>
            <a:ext cx="30540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15,039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379476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2011–2012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377440"/>
            <a:ext cx="3419856" cy="2011680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2615184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7A91"/>
                </a:solidFill>
              </a:defRPr>
            </a:pPr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072384"/>
            <a:ext cx="30540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7,152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379476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2013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77440"/>
            <a:ext cx="3419856" cy="20116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615184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7A91"/>
                </a:solidFill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072384"/>
            <a:ext cx="30540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14,542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2014–2015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" y="4828032"/>
            <a:ext cx="10890504" cy="8046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92624"/>
            <a:ext cx="10405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52536"/>
                </a:solidFill>
              </a:defRPr>
            </a:pPr>
            <a:r>
              <a:t>Inputs: 9 ambient/operating measurements (AT, AP, AH, AFDP, GTEP, TIT, TAT, TEY, CDP).  Target: NOX (mg/m³).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A small network trained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3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2148840" cy="1261872"/>
          </a:xfrm>
          <a:prstGeom prst="roundRect">
            <a:avLst/>
          </a:prstGeom>
          <a:solidFill>
            <a:srgbClr val="E5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69464"/>
            <a:ext cx="192938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9 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2240280"/>
            <a:ext cx="2148840" cy="1261872"/>
          </a:xfrm>
          <a:prstGeom prst="round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2569464"/>
            <a:ext cx="192938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32 neurons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ReLU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51576" y="2240280"/>
            <a:ext cx="2148840" cy="1261872"/>
          </a:xfrm>
          <a:prstGeom prst="round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2569464"/>
            <a:ext cx="192938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16 neurons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ReLU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2240280"/>
            <a:ext cx="2148840" cy="1261872"/>
          </a:xfrm>
          <a:prstGeom prst="round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569464"/>
            <a:ext cx="192938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1 output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152536"/>
                </a:solidFill>
              </a:defRPr>
            </a:pPr>
            <a:r>
              <a:t>NOx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5786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7A91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25786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7A91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5786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7A91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14800"/>
            <a:ext cx="52120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315968"/>
            <a:ext cx="46634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52536"/>
                </a:solidFill>
              </a:defRPr>
            </a:pPr>
            <a:r>
              <a:t>Training</a:t>
            </a:r>
          </a:p>
          <a:p>
            <a:pPr>
              <a:spcAft>
                <a:spcPts val="800"/>
              </a:spcAft>
              <a:defRPr sz="1800" b="1">
                <a:solidFill>
                  <a:srgbClr val="152536"/>
                </a:solidFill>
              </a:defRPr>
            </a:pPr>
            <a:r>
              <a:t>MSE loss + Adam optimizer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4114800"/>
            <a:ext cx="52120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4315968"/>
            <a:ext cx="46634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52536"/>
                </a:solidFill>
              </a:defRPr>
            </a:pPr>
            <a:r>
              <a:t>Generalization</a:t>
            </a:r>
          </a:p>
          <a:p>
            <a:pPr>
              <a:spcAft>
                <a:spcPts val="800"/>
              </a:spcAft>
              <a:defRPr sz="1800" b="1">
                <a:solidFill>
                  <a:srgbClr val="152536"/>
                </a:solidFill>
              </a:defRPr>
            </a:pPr>
            <a:r>
              <a:t>Validate every epoch; early stopping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5788152"/>
            <a:ext cx="10515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1"/>
                </a:solidFill>
              </a:defRPr>
            </a:pPr>
            <a:r>
              <a:t>865 trainable parameters  •  batch size 256  •  input and target standardization from training data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Validation chooses the best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4 / 7</a:t>
            </a:r>
          </a:p>
        </p:txBody>
      </p:sp>
      <p:pic>
        <p:nvPicPr>
          <p:cNvPr id="8" name="Picture 7" descr="nox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64792"/>
            <a:ext cx="7589520" cy="35791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1920240"/>
            <a:ext cx="3044952" cy="307238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1936" y="2212848"/>
            <a:ext cx="2587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Learning rates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1936" y="2633472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52536"/>
                </a:solidFill>
              </a:defRPr>
            </a:pPr>
            <a:r>
              <a:t>0.001  •  0.0003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3264408"/>
            <a:ext cx="25877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Selected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6" y="3648456"/>
            <a:ext cx="25877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7A91"/>
                </a:solidFill>
              </a:defRPr>
            </a:pPr>
            <a:r>
              <a:t>Epoch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4370832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52536"/>
                </a:solidFill>
              </a:defRPr>
            </a:pPr>
            <a:r>
              <a:t>Validation RMSE: 7.507 mg/m³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579729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1"/>
                </a:solidFill>
              </a:defRPr>
            </a:pPr>
            <a:r>
              <a:t>Stop after 20 epochs without validation improvement (maximum: 120 per trial).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Test result: the simpler baseline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5 / 7</a:t>
            </a:r>
          </a:p>
        </p:txBody>
      </p:sp>
      <p:pic>
        <p:nvPicPr>
          <p:cNvPr id="8" name="Picture 7" descr="nox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55648"/>
            <a:ext cx="7452360" cy="35144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828800"/>
            <a:ext cx="3172968" cy="32278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2093976"/>
            <a:ext cx="2651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52536"/>
                </a:solidFill>
              </a:defRPr>
            </a:pPr>
            <a:r>
              <a:t>Neural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27249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MAE   9.073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3264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RMSE  10.407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794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R²      0.032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4714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1"/>
                </a:solidFill>
              </a:defRPr>
            </a:pPr>
            <a:r>
              <a:t>All metrics on 14,542 test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22976"/>
            <a:ext cx="10698480" cy="594360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632704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2536"/>
                </a:solidFill>
              </a:defRPr>
            </a:pPr>
            <a:r>
              <a:t>Finding: the neural network improves on the constant predictor, but linear regression has lower test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Why the test result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6 / 7</a:t>
            </a:r>
          </a:p>
        </p:txBody>
      </p:sp>
      <p:pic>
        <p:nvPicPr>
          <p:cNvPr id="8" name="Picture 7" descr="nox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73936"/>
            <a:ext cx="7370064" cy="34756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865376"/>
            <a:ext cx="3200400" cy="33192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7344" y="2148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52536"/>
                </a:solidFill>
              </a:defRPr>
            </a:pPr>
            <a:r>
              <a:t>Error by test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27797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1"/>
                </a:solidFill>
              </a:defRPr>
            </a:pPr>
            <a: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3108960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7A91"/>
                </a:solidFill>
              </a:defRPr>
            </a:pPr>
            <a:r>
              <a:t>RMSE  9.14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38496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1"/>
                </a:solidFill>
              </a:defRPr>
            </a:pPr>
            <a:r>
              <a:t>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4178808"/>
            <a:ext cx="2606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52536"/>
                </a:solidFill>
              </a:defRPr>
            </a:pPr>
            <a:r>
              <a:t>RMSE  11.51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779008"/>
            <a:ext cx="10561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1"/>
                </a:solidFill>
              </a:defRPr>
            </a:pPr>
            <a:r>
              <a:t>Each dot is one observation from a displayed sample; the diagonal indicates an exact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7A91"/>
                </a:solidFill>
              </a:defRPr>
            </a:pPr>
            <a:r>
              <a:t>GAS TURBINE NOx • PYTORCH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536"/>
                </a:solidFill>
              </a:defRPr>
            </a:pPr>
            <a:r>
              <a:t>Live demo, limitations, and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55664"/>
            <a:ext cx="10972800" cy="13716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967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UCI Gas Turbine Emissions  |  Validation: 2013  •  Test: 2014–2015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07181"/>
                </a:solidFill>
              </a:defRPr>
            </a:pPr>
            <a:r>
              <a:t>7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810512"/>
            <a:ext cx="5303520" cy="34930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4825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7A91"/>
                </a:solidFill>
              </a:defRPr>
            </a:pPr>
            <a:r>
              <a:t>LIVE STREAMLIT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06624"/>
            <a:ext cx="466344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1. Choose a saved example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2. Change one of the nine sensors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3. Select Estimate NOx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4. Show prediction in mg/m³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5. Try a batch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10512"/>
            <a:ext cx="5312664" cy="34930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4825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7A91"/>
                </a:solidFill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06624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• One gas turbine (2011–2015)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• Weak generalization in 2015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• Better linear baseline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• No calibrated uncertainty</a:t>
            </a:r>
          </a:p>
          <a:p>
            <a:pPr>
              <a:spcAft>
                <a:spcPts val="800"/>
              </a:spcAft>
              <a:defRPr sz="1800" b="0">
                <a:solidFill>
                  <a:srgbClr val="152536"/>
                </a:solidFill>
              </a:defRPr>
            </a:pPr>
            <a:r>
              <a:t>• Not a control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5596128"/>
            <a:ext cx="10780776" cy="576072"/>
          </a:xfrm>
          <a:prstGeom prst="round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24144"/>
            <a:ext cx="10250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2536"/>
                </a:solidFill>
              </a:defRPr>
            </a:pPr>
            <a:r>
              <a:t>Takeaway: an end-to-end, reproducible PyTorch experiment with an honest held-out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